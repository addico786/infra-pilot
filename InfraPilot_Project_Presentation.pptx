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BB116-3169-7809-A9FE-022D5E5C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4C31B-7A00-3DEF-17A4-BE83287E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327F-9B43-9D6A-B9F5-24DA8E24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7AF5C-A760-2F70-F4AC-95F8089A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2525-2ED2-1AE8-7859-1ABE5C99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3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0465-12C4-542C-7975-E5DC0F9A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7D1A-5394-044F-40E8-F8989EA3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8EFB7-70BD-2DDD-8948-7A7DFA4A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2CC8-52E9-F11C-30A5-FC983C7C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93587-43B8-544D-2B3B-19DD0115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2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7ACD-442D-D252-F4F1-7C706EB8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FEF72-81F8-CA6D-764B-49A211C38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6D10-769B-D152-4172-53E83D23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123A-4C1A-DB53-AF71-91D8CC64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F3A1-40D0-BEAF-3C4F-4EE6C827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4D44-8F7C-3C57-13F7-DEF66530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7B30-AA7C-CF93-5E55-8589800F1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41B07-DC15-E881-A2B3-4CD750AC6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FCDB0-4DBE-CF04-C528-C1CF4E33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7F4C7-DC99-C34C-1EA4-5B8F3EA5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527B-49AC-C77D-610D-B325EDF6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8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058F-1E22-3E81-DC8D-8D41645A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DF532-32A9-C31D-FB29-6ABF6A648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13CB9-5B51-F892-824E-B2BB955A0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AE53B-F940-4F5A-DADE-97A935209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B4DA0-CABC-DAEA-CBCD-423865F73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A2722-6FDD-E1F9-057D-B63FB663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43C18-6D72-7ACB-2270-BECA84FD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5C4F0-C2A1-30EA-7C81-E7599F5F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1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19F3-169E-EC95-3E6A-A2F01D28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35DCF-E096-C27E-7EED-74BB39D3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39F70-D4B3-DF0F-FCFA-FD6CA3DD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3A347-F622-3E35-01B8-DAB0BA3C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0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57472-D6FA-D27A-94B8-0A8ABB27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E7BCB-F7A6-363A-4F12-C4D906BD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3C236-FD06-0878-625A-B84EB4D3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9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41A0-F7D8-AA76-F7E5-FA9FA122C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27641-9A13-EA02-9E84-098DB2047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EC398-A78F-CAC2-3D0E-B622743AE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970C9-CF1B-6F0A-7AA6-B495D4C5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2C431-82A6-607C-6F0E-50EF869A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AAC2C-7CDC-6776-E904-71BEAC50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0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2BD9-704E-6737-1934-C71C5368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61FFF8-E73A-46E3-FFA8-69BE0EF59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F8D3D-92E7-CD44-E063-7B9D5F2C8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CC156-5088-5FB8-FDC2-B4D0193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D663A-79EA-24D3-A2C3-982F759B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5DEE-5622-95E5-43B1-DD827D2C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889C-39F7-8EDD-1FA8-BFA2924B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742DE-53ED-E32D-6346-5427EFF76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EAD6-E96D-A2FE-8BEB-66C4D07C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A66AD-C1B7-4A97-2016-652FB02C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52669-F1B8-F74B-D51C-34ABCA94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6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9A93C-76B7-FED5-0251-52A1B6903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7557-9CFE-36CC-C58A-8E70A7803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4875C-F6FD-5C20-3BBF-63D9BE86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64080-8DA0-F936-C146-1228B5A6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356D-AB88-0230-E2F0-56BCC21F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6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2E082-8EB6-C6C3-7435-B7458FC6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A9500-38C4-5DA7-7649-50F5749A5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3D652-B582-104F-C55D-243999B6B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E89BC-4D0E-4506-B917-D226642FB5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028E-59B6-6BF4-C5FF-88B6C03F3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6B539-3527-5A7E-462C-586E0D21F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3DABD-A844-4BC3-A404-A771C9071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2B58B-B1A9-27D7-5228-EE303A0555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D8F752-BD86-9A6B-4155-1338A4B5F5FF}"/>
              </a:ext>
            </a:extLst>
          </p:cNvPr>
          <p:cNvSpPr/>
          <p:nvPr/>
        </p:nvSpPr>
        <p:spPr>
          <a:xfrm>
            <a:off x="698500" y="609600"/>
            <a:ext cx="10795000" cy="381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174AD-F7F1-63B5-6091-AB98AEEDA54D}"/>
              </a:ext>
            </a:extLst>
          </p:cNvPr>
          <p:cNvSpPr txBox="1"/>
          <p:nvPr/>
        </p:nvSpPr>
        <p:spPr>
          <a:xfrm>
            <a:off x="1143000" y="914400"/>
            <a:ext cx="9906000" cy="5745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3400" b="1">
                <a:solidFill>
                  <a:srgbClr val="1D1D1F"/>
                </a:solidFill>
                <a:latin typeface="Aptos" panose="020B0004020202020204" pitchFamily="34" charset="0"/>
              </a:rPr>
              <a:t>INFRA PILOT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11C88-70D8-0DC5-E075-E8CDE0204BE3}"/>
              </a:ext>
            </a:extLst>
          </p:cNvPr>
          <p:cNvSpPr txBox="1"/>
          <p:nvPr/>
        </p:nvSpPr>
        <p:spPr>
          <a:xfrm>
            <a:off x="1143000" y="1676400"/>
            <a:ext cx="9906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b="1">
                <a:solidFill>
                  <a:srgbClr val="0071E3"/>
                </a:solidFill>
                <a:latin typeface="Aptos" panose="020B0004020202020204" pitchFamily="34" charset="0"/>
              </a:rPr>
              <a:t>AI-Powered Infrastructure Drift Detection &amp; AutoFix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B25CB-B539-CD49-6F50-1BC7E978DD1F}"/>
              </a:ext>
            </a:extLst>
          </p:cNvPr>
          <p:cNvSpPr txBox="1"/>
          <p:nvPr/>
        </p:nvSpPr>
        <p:spPr>
          <a:xfrm>
            <a:off x="1524000" y="2387600"/>
            <a:ext cx="9144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1D1D1F"/>
                </a:solidFill>
                <a:latin typeface="Aptos" panose="020B0004020202020204" pitchFamily="34" charset="0"/>
              </a:rPr>
              <a:t>MAJOR PROJECT / DISSERTATION REPORT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EDFB7-A4C2-06ED-3C2E-D7532DA1DA94}"/>
              </a:ext>
            </a:extLst>
          </p:cNvPr>
          <p:cNvSpPr txBox="1"/>
          <p:nvPr/>
        </p:nvSpPr>
        <p:spPr>
          <a:xfrm>
            <a:off x="2286000" y="3073400"/>
            <a:ext cx="7620000" cy="7437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>
                <a:solidFill>
                  <a:srgbClr val="1D1D1F"/>
                </a:solidFill>
                <a:latin typeface="Aptos" panose="020B0004020202020204" pitchFamily="34" charset="0"/>
              </a:rPr>
              <a:t>Submitted by</a:t>
            </a:r>
          </a:p>
          <a:p>
            <a:pPr algn="ctr"/>
            <a:r>
              <a:rPr lang="en-US" sz="1500">
                <a:solidFill>
                  <a:srgbClr val="1D1D1F"/>
                </a:solidFill>
                <a:latin typeface="Aptos" panose="020B0004020202020204" pitchFamily="34" charset="0"/>
              </a:rPr>
              <a:t>Adnan</a:t>
            </a:r>
          </a:p>
          <a:p>
            <a:pPr algn="ctr"/>
            <a:r>
              <a:rPr lang="en-US" sz="1500">
                <a:solidFill>
                  <a:srgbClr val="1D1D1F"/>
                </a:solidFill>
                <a:latin typeface="Aptos" panose="020B0004020202020204" pitchFamily="34" charset="0"/>
              </a:rPr>
              <a:t>Enrollment No.: [Your Enrollment Number]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96647-8E40-FC21-C3FE-A15FB349C852}"/>
              </a:ext>
            </a:extLst>
          </p:cNvPr>
          <p:cNvSpPr txBox="1"/>
          <p:nvPr/>
        </p:nvSpPr>
        <p:spPr>
          <a:xfrm>
            <a:off x="2159000" y="4064000"/>
            <a:ext cx="787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>
                <a:solidFill>
                  <a:srgbClr val="1D1D1F"/>
                </a:solidFill>
                <a:latin typeface="Aptos" panose="020B0004020202020204" pitchFamily="34" charset="0"/>
              </a:rPr>
              <a:t>in partial fulfillment for the award of the degree of</a:t>
            </a:r>
          </a:p>
          <a:p>
            <a:pPr algn="ctr"/>
            <a:r>
              <a:rPr lang="en-US" sz="1400">
                <a:solidFill>
                  <a:srgbClr val="1D1D1F"/>
                </a:solidFill>
                <a:latin typeface="Aptos" panose="020B0004020202020204" pitchFamily="34" charset="0"/>
              </a:rPr>
              <a:t>Bachelor of Computer Applications (BCA)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77555-663E-CE7E-5C24-32F09A83178F}"/>
              </a:ext>
            </a:extLst>
          </p:cNvPr>
          <p:cNvSpPr txBox="1"/>
          <p:nvPr/>
        </p:nvSpPr>
        <p:spPr>
          <a:xfrm>
            <a:off x="2286000" y="4978400"/>
            <a:ext cx="7620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>
                <a:solidFill>
                  <a:srgbClr val="1D1D1F"/>
                </a:solidFill>
                <a:latin typeface="Aptos" panose="020B0004020202020204" pitchFamily="34" charset="0"/>
              </a:rPr>
              <a:t>Under the supervision of</a:t>
            </a:r>
          </a:p>
          <a:p>
            <a:pPr algn="ctr"/>
            <a:r>
              <a:rPr lang="en-US" sz="1400">
                <a:solidFill>
                  <a:srgbClr val="1D1D1F"/>
                </a:solidFill>
                <a:latin typeface="Aptos" panose="020B0004020202020204" pitchFamily="34" charset="0"/>
              </a:rPr>
              <a:t>[Supervisor Name]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D0CB8-213C-0FFE-07FB-BBB8A195C157}"/>
              </a:ext>
            </a:extLst>
          </p:cNvPr>
          <p:cNvSpPr txBox="1"/>
          <p:nvPr/>
        </p:nvSpPr>
        <p:spPr>
          <a:xfrm>
            <a:off x="1460500" y="5867400"/>
            <a:ext cx="9271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1D1D1F"/>
                </a:solidFill>
                <a:latin typeface="Aptos" panose="020B0004020202020204" pitchFamily="34" charset="0"/>
              </a:rPr>
              <a:t>Department of Computer Science &amp; Engineering</a:t>
            </a:r>
          </a:p>
          <a:p>
            <a:pPr algn="ctr"/>
            <a:r>
              <a:rPr lang="en-US" sz="1200">
                <a:solidFill>
                  <a:srgbClr val="1D1D1F"/>
                </a:solidFill>
                <a:latin typeface="Aptos" panose="020B0004020202020204" pitchFamily="34" charset="0"/>
              </a:rPr>
              <a:t>School of Engineering Sciences &amp; Technology, Jamia Hamdard, New Delhi - 110062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F35264-EED0-2D83-DE76-4A24B26B9F73}"/>
              </a:ext>
            </a:extLst>
          </p:cNvPr>
          <p:cNvSpPr txBox="1"/>
          <p:nvPr/>
        </p:nvSpPr>
        <p:spPr>
          <a:xfrm>
            <a:off x="5334000" y="6477000"/>
            <a:ext cx="1524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300" b="1">
                <a:solidFill>
                  <a:srgbClr val="1D1D1F"/>
                </a:solidFill>
                <a:latin typeface="Aptos" panose="020B00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6417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A6449-AEEF-BD01-CC44-7530675BBE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D82D9-D493-452C-30CB-6A22AB5A554B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4006B-35D0-13E6-FBE3-CE0BB259C5C1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A4271-0EFA-574F-7261-7CA187D3D703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Why infrastructure drift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DBE10-8E58-EA0D-D1B5-AEB5C6474E53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011C7-1341-8F0C-5C92-E9A9C7922CA8}"/>
              </a:ext>
            </a:extLst>
          </p:cNvPr>
          <p:cNvSpPr txBox="1"/>
          <p:nvPr/>
        </p:nvSpPr>
        <p:spPr>
          <a:xfrm>
            <a:off x="787400" y="1397000"/>
            <a:ext cx="5334000" cy="226728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Modern cloud systems are managed through Terraform and Kubernetes manifests.</a:t>
            </a:r>
          </a:p>
          <a:p>
            <a:endParaRPr lang="en-US">
              <a:solidFill>
                <a:srgbClr val="F8FAFC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Small configuration mistakes can introduce downtime, security exposure, and production drift.</a:t>
            </a:r>
          </a:p>
          <a:p>
            <a:endParaRPr lang="en-US">
              <a:solidFill>
                <a:srgbClr val="F8FAFC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InfraPilot acts as an AI-assisted co-pilot for detecting, explaining, and fixing these risks.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E0E254-4696-ACF9-A072-BD331304667F}"/>
              </a:ext>
            </a:extLst>
          </p:cNvPr>
          <p:cNvSpPr/>
          <p:nvPr/>
        </p:nvSpPr>
        <p:spPr>
          <a:xfrm>
            <a:off x="6858000" y="1460500"/>
            <a:ext cx="4000500" cy="863600"/>
          </a:xfrm>
          <a:prstGeom prst="round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D658-AAC6-3D34-F2B8-A04CE4418813}"/>
              </a:ext>
            </a:extLst>
          </p:cNvPr>
          <p:cNvSpPr txBox="1"/>
          <p:nvPr/>
        </p:nvSpPr>
        <p:spPr>
          <a:xfrm>
            <a:off x="7137400" y="1714500"/>
            <a:ext cx="3429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Core Idea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25F966-E682-3118-C344-1A9853495431}"/>
              </a:ext>
            </a:extLst>
          </p:cNvPr>
          <p:cNvSpPr/>
          <p:nvPr/>
        </p:nvSpPr>
        <p:spPr>
          <a:xfrm>
            <a:off x="6832600" y="2730500"/>
            <a:ext cx="4064000" cy="2413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5A06A-43C0-8026-C9DA-EED7C4A1C013}"/>
              </a:ext>
            </a:extLst>
          </p:cNvPr>
          <p:cNvSpPr/>
          <p:nvPr/>
        </p:nvSpPr>
        <p:spPr>
          <a:xfrm>
            <a:off x="6832600" y="2730500"/>
            <a:ext cx="63500" cy="24130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F5AD5-C235-40BC-89A8-0DC2D3E65047}"/>
              </a:ext>
            </a:extLst>
          </p:cNvPr>
          <p:cNvSpPr txBox="1"/>
          <p:nvPr/>
        </p:nvSpPr>
        <p:spPr>
          <a:xfrm>
            <a:off x="7061200" y="2908300"/>
            <a:ext cx="3657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InfraPilot Helps Teams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8A45B-B456-4FF2-ABFA-3A21E497E807}"/>
              </a:ext>
            </a:extLst>
          </p:cNvPr>
          <p:cNvSpPr txBox="1"/>
          <p:nvPr/>
        </p:nvSpPr>
        <p:spPr>
          <a:xfrm>
            <a:off x="7086600" y="3416300"/>
            <a:ext cx="3632200" cy="95923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Analyze infrastructure as code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Predict drift progression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Generate fix suggestions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Support local and cloud AI</a:t>
            </a:r>
          </a:p>
        </p:txBody>
      </p:sp>
    </p:spTree>
    <p:extLst>
      <p:ext uri="{BB962C8B-B14F-4D97-AF65-F5344CB8AC3E}">
        <p14:creationId xmlns:p14="http://schemas.microsoft.com/office/powerpoint/2010/main" val="386213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3782B5-BEC7-B47F-5F7B-5265712595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9B895-63DC-1AD6-4A48-453339B1B87A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5EE2C-6EC2-80D7-A153-FC0BB5B8A5E8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C53F-C342-10A4-9B4D-D6562D74780F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What teams struggle with 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466DB-96F1-CC78-59F4-2FE0F4D2ED36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1FF128-ED78-5939-2DAB-3A64A8266225}"/>
              </a:ext>
            </a:extLst>
          </p:cNvPr>
          <p:cNvSpPr/>
          <p:nvPr/>
        </p:nvSpPr>
        <p:spPr>
          <a:xfrm>
            <a:off x="736600" y="1498600"/>
            <a:ext cx="3276600" cy="4038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5EFFF-AB56-CC71-C24D-0156F7BC44FC}"/>
              </a:ext>
            </a:extLst>
          </p:cNvPr>
          <p:cNvSpPr/>
          <p:nvPr/>
        </p:nvSpPr>
        <p:spPr>
          <a:xfrm>
            <a:off x="736600" y="1498600"/>
            <a:ext cx="63500" cy="40386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E8D84-75AB-BC79-8ED9-C87FC4139F62}"/>
              </a:ext>
            </a:extLst>
          </p:cNvPr>
          <p:cNvSpPr txBox="1"/>
          <p:nvPr/>
        </p:nvSpPr>
        <p:spPr>
          <a:xfrm>
            <a:off x="965200" y="1676400"/>
            <a:ext cx="2870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Manual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22E43-B728-4DC9-173D-456A4012E621}"/>
              </a:ext>
            </a:extLst>
          </p:cNvPr>
          <p:cNvSpPr txBox="1"/>
          <p:nvPr/>
        </p:nvSpPr>
        <p:spPr>
          <a:xfrm>
            <a:off x="990600" y="2184400"/>
            <a:ext cx="28448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Slow and inconsistent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Easy to miss risky defaults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Depends heavily on expert availability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AAC8E7-0489-0D73-4256-0A29C0173F87}"/>
              </a:ext>
            </a:extLst>
          </p:cNvPr>
          <p:cNvSpPr/>
          <p:nvPr/>
        </p:nvSpPr>
        <p:spPr>
          <a:xfrm>
            <a:off x="4457700" y="1498600"/>
            <a:ext cx="3276600" cy="4038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13DC0B-291C-DF92-923E-2507D3BCEFB5}"/>
              </a:ext>
            </a:extLst>
          </p:cNvPr>
          <p:cNvSpPr/>
          <p:nvPr/>
        </p:nvSpPr>
        <p:spPr>
          <a:xfrm>
            <a:off x="4457700" y="1498600"/>
            <a:ext cx="63500" cy="40386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6ADA9-394E-9241-8089-067BA87A151E}"/>
              </a:ext>
            </a:extLst>
          </p:cNvPr>
          <p:cNvSpPr txBox="1"/>
          <p:nvPr/>
        </p:nvSpPr>
        <p:spPr>
          <a:xfrm>
            <a:off x="4686300" y="1676400"/>
            <a:ext cx="2870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Configuration Drift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9B0DC-1F3F-4286-EE02-1B4620FA48E8}"/>
              </a:ext>
            </a:extLst>
          </p:cNvPr>
          <p:cNvSpPr txBox="1"/>
          <p:nvPr/>
        </p:nvSpPr>
        <p:spPr>
          <a:xfrm>
            <a:off x="4711700" y="2184400"/>
            <a:ext cx="28448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Cloud state changes over time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IaC files become outdated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Production behavior becomes unpredictable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7479AF-8CA9-C739-1E1D-A4F83DA13A6C}"/>
              </a:ext>
            </a:extLst>
          </p:cNvPr>
          <p:cNvSpPr/>
          <p:nvPr/>
        </p:nvSpPr>
        <p:spPr>
          <a:xfrm>
            <a:off x="8178800" y="1498600"/>
            <a:ext cx="3276600" cy="4038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6D6900-ABC2-0E4D-DDC0-A4B759EFE762}"/>
              </a:ext>
            </a:extLst>
          </p:cNvPr>
          <p:cNvSpPr/>
          <p:nvPr/>
        </p:nvSpPr>
        <p:spPr>
          <a:xfrm>
            <a:off x="8178800" y="1498600"/>
            <a:ext cx="63500" cy="40386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4FB151-0E47-3F1A-65A9-C7A2DF404454}"/>
              </a:ext>
            </a:extLst>
          </p:cNvPr>
          <p:cNvSpPr txBox="1"/>
          <p:nvPr/>
        </p:nvSpPr>
        <p:spPr>
          <a:xfrm>
            <a:off x="8407400" y="1676400"/>
            <a:ext cx="2870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Fix Handoff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3991C-B839-2047-3510-1210891BC10F}"/>
              </a:ext>
            </a:extLst>
          </p:cNvPr>
          <p:cNvSpPr txBox="1"/>
          <p:nvPr/>
        </p:nvSpPr>
        <p:spPr>
          <a:xfrm>
            <a:off x="8432800" y="2184400"/>
            <a:ext cx="28448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Issues are detected but not fixed quickly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Patch writing takes time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Security risks stay open longer</a:t>
            </a:r>
          </a:p>
        </p:txBody>
      </p:sp>
    </p:spTree>
    <p:extLst>
      <p:ext uri="{BB962C8B-B14F-4D97-AF65-F5344CB8AC3E}">
        <p14:creationId xmlns:p14="http://schemas.microsoft.com/office/powerpoint/2010/main" val="208684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88F81-7956-8E1D-5935-CDFDB989C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2033E-923A-E283-CDC1-F43CDABD38E3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AE168-8F1A-5EA3-06F6-E9BCD0D6A67F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CDB8E-3FCE-DC2E-54E6-8B9229F47F62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What InfraPilot is built to achieve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1436B-5159-E568-58C4-6E0AC88525AD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C6A315-578B-A965-4CEA-41C0F77F464B}"/>
              </a:ext>
            </a:extLst>
          </p:cNvPr>
          <p:cNvSpPr/>
          <p:nvPr/>
        </p:nvSpPr>
        <p:spPr>
          <a:xfrm>
            <a:off x="952500" y="1460500"/>
            <a:ext cx="10287000" cy="42545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8B1F2-64E4-146C-EE6A-195D63CE7F60}"/>
              </a:ext>
            </a:extLst>
          </p:cNvPr>
          <p:cNvSpPr txBox="1"/>
          <p:nvPr/>
        </p:nvSpPr>
        <p:spPr>
          <a:xfrm>
            <a:off x="1333500" y="1841500"/>
            <a:ext cx="9525000" cy="209801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Detect misconfigurations in Terraform and Kubernetes manifests.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Calculate a simple drift score that summarizes infrastructure risk.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Generate timeline-style predictions for how drift can evolve.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Support multiple AI providers: Ollama, Gemini, and Oumi scoring.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Provide rule-engine fallback so analysis still works when AI is unavailable.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Offer AutoFix patch generation through the Cline workflow path.</a:t>
            </a:r>
          </a:p>
        </p:txBody>
      </p:sp>
    </p:spTree>
    <p:extLst>
      <p:ext uri="{BB962C8B-B14F-4D97-AF65-F5344CB8AC3E}">
        <p14:creationId xmlns:p14="http://schemas.microsoft.com/office/powerpoint/2010/main" val="157719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48C2FA-C81B-7B41-3749-BDEDC1B7C8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A560D-8054-DA78-21A1-8B80430403C5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B1C9C-A64C-D3C6-739C-C298209CCF92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61CC2-BF3A-109F-4FFB-1F0C05A22AC2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AI-assisted infrastructure reliability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F48C0-83B8-8264-3748-81FADFC10228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DAF86-422C-39FB-3DBB-B2A08F49AE0C}"/>
              </a:ext>
            </a:extLst>
          </p:cNvPr>
          <p:cNvSpPr/>
          <p:nvPr/>
        </p:nvSpPr>
        <p:spPr>
          <a:xfrm>
            <a:off x="698500" y="1397000"/>
            <a:ext cx="1968500" cy="88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71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FF358-E7BC-5BF0-068E-BA7F44013C3C}"/>
              </a:ext>
            </a:extLst>
          </p:cNvPr>
          <p:cNvSpPr txBox="1"/>
          <p:nvPr/>
        </p:nvSpPr>
        <p:spPr>
          <a:xfrm>
            <a:off x="825500" y="1625600"/>
            <a:ext cx="1714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" panose="020B0004020202020204" pitchFamily="34" charset="0"/>
              </a:rPr>
              <a:t>Upload / Paste IaC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1A029-E8BD-4372-490A-04A7D80994C5}"/>
              </a:ext>
            </a:extLst>
          </p:cNvPr>
          <p:cNvSpPr/>
          <p:nvPr/>
        </p:nvSpPr>
        <p:spPr>
          <a:xfrm>
            <a:off x="2781300" y="1803400"/>
            <a:ext cx="406400" cy="50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C7B0FF-F849-D587-5BB3-546A6AA64A49}"/>
              </a:ext>
            </a:extLst>
          </p:cNvPr>
          <p:cNvSpPr/>
          <p:nvPr/>
        </p:nvSpPr>
        <p:spPr>
          <a:xfrm>
            <a:off x="3111500" y="1397000"/>
            <a:ext cx="1968500" cy="88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71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EA964-A3AC-D009-183D-2416B9127A31}"/>
              </a:ext>
            </a:extLst>
          </p:cNvPr>
          <p:cNvSpPr txBox="1"/>
          <p:nvPr/>
        </p:nvSpPr>
        <p:spPr>
          <a:xfrm>
            <a:off x="3238500" y="1625600"/>
            <a:ext cx="1714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" panose="020B0004020202020204" pitchFamily="34" charset="0"/>
              </a:rPr>
              <a:t>AI + Rule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A2D75B-69A7-3DAB-357F-2BE3FF3E3B4B}"/>
              </a:ext>
            </a:extLst>
          </p:cNvPr>
          <p:cNvSpPr/>
          <p:nvPr/>
        </p:nvSpPr>
        <p:spPr>
          <a:xfrm>
            <a:off x="5194300" y="1803400"/>
            <a:ext cx="406400" cy="50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057792-CCCA-51DD-8AB0-920B02EBB41A}"/>
              </a:ext>
            </a:extLst>
          </p:cNvPr>
          <p:cNvSpPr/>
          <p:nvPr/>
        </p:nvSpPr>
        <p:spPr>
          <a:xfrm>
            <a:off x="5524500" y="1397000"/>
            <a:ext cx="1968500" cy="88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71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50156-CFE2-61DA-15BF-6DFED1B17E9F}"/>
              </a:ext>
            </a:extLst>
          </p:cNvPr>
          <p:cNvSpPr txBox="1"/>
          <p:nvPr/>
        </p:nvSpPr>
        <p:spPr>
          <a:xfrm>
            <a:off x="5651500" y="1625600"/>
            <a:ext cx="1714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" panose="020B0004020202020204" pitchFamily="34" charset="0"/>
              </a:rPr>
              <a:t>Drift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EEF837-EAC0-E691-1D93-EBB3DF95B227}"/>
              </a:ext>
            </a:extLst>
          </p:cNvPr>
          <p:cNvSpPr/>
          <p:nvPr/>
        </p:nvSpPr>
        <p:spPr>
          <a:xfrm>
            <a:off x="7607300" y="1803400"/>
            <a:ext cx="406400" cy="50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2AA5C2-2BA9-BFBD-DCB9-6E66B4CA4AAF}"/>
              </a:ext>
            </a:extLst>
          </p:cNvPr>
          <p:cNvSpPr/>
          <p:nvPr/>
        </p:nvSpPr>
        <p:spPr>
          <a:xfrm>
            <a:off x="7937500" y="1397000"/>
            <a:ext cx="1968500" cy="88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71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47523A-CEA3-8D14-ABF4-129B58E99F91}"/>
              </a:ext>
            </a:extLst>
          </p:cNvPr>
          <p:cNvSpPr txBox="1"/>
          <p:nvPr/>
        </p:nvSpPr>
        <p:spPr>
          <a:xfrm>
            <a:off x="8064500" y="1625600"/>
            <a:ext cx="1714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" panose="020B0004020202020204" pitchFamily="34" charset="0"/>
              </a:rPr>
              <a:t>Timeline + Issues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3B529-DEBC-EE44-9500-D3EB77A8197A}"/>
              </a:ext>
            </a:extLst>
          </p:cNvPr>
          <p:cNvSpPr/>
          <p:nvPr/>
        </p:nvSpPr>
        <p:spPr>
          <a:xfrm>
            <a:off x="10020300" y="1803400"/>
            <a:ext cx="406400" cy="50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89A6F4-35B7-20B1-40CB-5B2590F9B4A4}"/>
              </a:ext>
            </a:extLst>
          </p:cNvPr>
          <p:cNvSpPr/>
          <p:nvPr/>
        </p:nvSpPr>
        <p:spPr>
          <a:xfrm>
            <a:off x="10350500" y="1397000"/>
            <a:ext cx="1968500" cy="88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71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3371E-9752-1AF1-FE15-79A82FD76217}"/>
              </a:ext>
            </a:extLst>
          </p:cNvPr>
          <p:cNvSpPr txBox="1"/>
          <p:nvPr/>
        </p:nvSpPr>
        <p:spPr>
          <a:xfrm>
            <a:off x="10477500" y="1625600"/>
            <a:ext cx="1714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" panose="020B0004020202020204" pitchFamily="34" charset="0"/>
              </a:rPr>
              <a:t>AutoFix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37B3DF-7065-F139-AB7B-ED55AF70F853}"/>
              </a:ext>
            </a:extLst>
          </p:cNvPr>
          <p:cNvSpPr/>
          <p:nvPr/>
        </p:nvSpPr>
        <p:spPr>
          <a:xfrm>
            <a:off x="1079500" y="3302000"/>
            <a:ext cx="4445000" cy="2159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744F8-F851-65E3-56B1-0152DB6289AC}"/>
              </a:ext>
            </a:extLst>
          </p:cNvPr>
          <p:cNvSpPr/>
          <p:nvPr/>
        </p:nvSpPr>
        <p:spPr>
          <a:xfrm>
            <a:off x="1079500" y="3302000"/>
            <a:ext cx="63500" cy="21590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26B155-327C-19E7-9744-AC10A7270E3A}"/>
              </a:ext>
            </a:extLst>
          </p:cNvPr>
          <p:cNvSpPr txBox="1"/>
          <p:nvPr/>
        </p:nvSpPr>
        <p:spPr>
          <a:xfrm>
            <a:off x="1308100" y="3479800"/>
            <a:ext cx="4038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Frontend + Backend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13D9BF-8A66-92BB-2B35-68B658E745AF}"/>
              </a:ext>
            </a:extLst>
          </p:cNvPr>
          <p:cNvSpPr txBox="1"/>
          <p:nvPr/>
        </p:nvSpPr>
        <p:spPr>
          <a:xfrm>
            <a:off x="1333500" y="3987800"/>
            <a:ext cx="4013200" cy="95923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Chat-style workflow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Provider selection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Normalized results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Rule fallback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C7C70E-6386-87E7-22FA-33646834DBED}"/>
              </a:ext>
            </a:extLst>
          </p:cNvPr>
          <p:cNvSpPr/>
          <p:nvPr/>
        </p:nvSpPr>
        <p:spPr>
          <a:xfrm>
            <a:off x="6667500" y="3302000"/>
            <a:ext cx="4445000" cy="2159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200DAB-59B5-5D0E-01BF-B706CB8B9B48}"/>
              </a:ext>
            </a:extLst>
          </p:cNvPr>
          <p:cNvSpPr/>
          <p:nvPr/>
        </p:nvSpPr>
        <p:spPr>
          <a:xfrm>
            <a:off x="6667500" y="3302000"/>
            <a:ext cx="63500" cy="21590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0D9B95-4E32-94CD-AB4F-16391975C073}"/>
              </a:ext>
            </a:extLst>
          </p:cNvPr>
          <p:cNvSpPr txBox="1"/>
          <p:nvPr/>
        </p:nvSpPr>
        <p:spPr>
          <a:xfrm>
            <a:off x="6896100" y="3479800"/>
            <a:ext cx="4038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Results + Fixes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C2DE3-C91D-EB25-5FB2-34F36413EA10}"/>
              </a:ext>
            </a:extLst>
          </p:cNvPr>
          <p:cNvSpPr txBox="1"/>
          <p:nvPr/>
        </p:nvSpPr>
        <p:spPr>
          <a:xfrm>
            <a:off x="6921500" y="3987800"/>
            <a:ext cx="4013200" cy="95923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Score and timeline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Issue cards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Optional email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Reviewable patches</a:t>
            </a:r>
          </a:p>
        </p:txBody>
      </p:sp>
    </p:spTree>
    <p:extLst>
      <p:ext uri="{BB962C8B-B14F-4D97-AF65-F5344CB8AC3E}">
        <p14:creationId xmlns:p14="http://schemas.microsoft.com/office/powerpoint/2010/main" val="135642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DCBC9-5A67-6307-6EA4-C66C1505BA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BB2F99-C5F1-23CA-7F9D-7FD4CA4DA7CC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90C04-5F2A-430F-C7A1-318D18824379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D3DFB-0343-E8F4-00CA-5431F480E10F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Frontend, backend, AI providers, and AutoFix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B970B-0F39-BE56-C5BB-B6D1F1958733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DBE293-198C-32D3-0B8C-C8F829043A99}"/>
              </a:ext>
            </a:extLst>
          </p:cNvPr>
          <p:cNvSpPr/>
          <p:nvPr/>
        </p:nvSpPr>
        <p:spPr>
          <a:xfrm>
            <a:off x="825500" y="1333500"/>
            <a:ext cx="3048000" cy="14605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C3FEA-52EB-535B-1566-0DBDC9F0F99E}"/>
              </a:ext>
            </a:extLst>
          </p:cNvPr>
          <p:cNvSpPr/>
          <p:nvPr/>
        </p:nvSpPr>
        <p:spPr>
          <a:xfrm>
            <a:off x="825500" y="1333500"/>
            <a:ext cx="63500" cy="14605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03912-8FC8-73C2-2143-6D38DFB991B0}"/>
              </a:ext>
            </a:extLst>
          </p:cNvPr>
          <p:cNvSpPr txBox="1"/>
          <p:nvPr/>
        </p:nvSpPr>
        <p:spPr>
          <a:xfrm>
            <a:off x="1054100" y="15113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React + Vite 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EBD1C-D68A-99A1-9C00-E093289AAE30}"/>
              </a:ext>
            </a:extLst>
          </p:cNvPr>
          <p:cNvSpPr txBox="1"/>
          <p:nvPr/>
        </p:nvSpPr>
        <p:spPr>
          <a:xfrm>
            <a:off x="1079500" y="20193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Home page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Login/Register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Protected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039AFF-6A48-7078-5F01-A127FC57753C}"/>
              </a:ext>
            </a:extLst>
          </p:cNvPr>
          <p:cNvSpPr/>
          <p:nvPr/>
        </p:nvSpPr>
        <p:spPr>
          <a:xfrm>
            <a:off x="4572000" y="1333500"/>
            <a:ext cx="3048000" cy="14605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0D8F52-3414-2FF9-872A-3A0109B9968A}"/>
              </a:ext>
            </a:extLst>
          </p:cNvPr>
          <p:cNvSpPr/>
          <p:nvPr/>
        </p:nvSpPr>
        <p:spPr>
          <a:xfrm>
            <a:off x="4572000" y="1333500"/>
            <a:ext cx="63500" cy="14605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F2713-8BB8-E08C-E2A3-1820DE31007B}"/>
              </a:ext>
            </a:extLst>
          </p:cNvPr>
          <p:cNvSpPr txBox="1"/>
          <p:nvPr/>
        </p:nvSpPr>
        <p:spPr>
          <a:xfrm>
            <a:off x="4800600" y="15113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FastAPI Backend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B36A1-3A23-1A12-999F-2DD65FDA5369}"/>
              </a:ext>
            </a:extLst>
          </p:cNvPr>
          <p:cNvSpPr txBox="1"/>
          <p:nvPr/>
        </p:nvSpPr>
        <p:spPr>
          <a:xfrm>
            <a:off x="4826000" y="20193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/analyze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/auth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/autofix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79E5FA-54FC-B8E5-75E5-395E00D12C5A}"/>
              </a:ext>
            </a:extLst>
          </p:cNvPr>
          <p:cNvSpPr/>
          <p:nvPr/>
        </p:nvSpPr>
        <p:spPr>
          <a:xfrm>
            <a:off x="8318500" y="1333500"/>
            <a:ext cx="3048000" cy="14605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6C9A52-94B4-13DC-1D9D-260A9B43ADFF}"/>
              </a:ext>
            </a:extLst>
          </p:cNvPr>
          <p:cNvSpPr/>
          <p:nvPr/>
        </p:nvSpPr>
        <p:spPr>
          <a:xfrm>
            <a:off x="8318500" y="1333500"/>
            <a:ext cx="63500" cy="14605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49DF6-A6B3-0DA2-7988-22A17FC42167}"/>
              </a:ext>
            </a:extLst>
          </p:cNvPr>
          <p:cNvSpPr txBox="1"/>
          <p:nvPr/>
        </p:nvSpPr>
        <p:spPr>
          <a:xfrm>
            <a:off x="8547100" y="15113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AI Providers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C442B4-958E-B08C-EBD9-3AD21E551383}"/>
              </a:ext>
            </a:extLst>
          </p:cNvPr>
          <p:cNvSpPr txBox="1"/>
          <p:nvPr/>
        </p:nvSpPr>
        <p:spPr>
          <a:xfrm>
            <a:off x="8572500" y="20193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Ollama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Gemini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Oumi RL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D74279-19D5-4395-E336-CEE0780F6FCB}"/>
              </a:ext>
            </a:extLst>
          </p:cNvPr>
          <p:cNvSpPr/>
          <p:nvPr/>
        </p:nvSpPr>
        <p:spPr>
          <a:xfrm>
            <a:off x="825500" y="3683000"/>
            <a:ext cx="3048000" cy="1905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5BEC73-122B-9EF9-47D5-093AFFB8D65D}"/>
              </a:ext>
            </a:extLst>
          </p:cNvPr>
          <p:cNvSpPr/>
          <p:nvPr/>
        </p:nvSpPr>
        <p:spPr>
          <a:xfrm>
            <a:off x="825500" y="3683000"/>
            <a:ext cx="63500" cy="19050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E6335-A9CD-3EB0-2DE9-BB4F044FEED5}"/>
              </a:ext>
            </a:extLst>
          </p:cNvPr>
          <p:cNvSpPr txBox="1"/>
          <p:nvPr/>
        </p:nvSpPr>
        <p:spPr>
          <a:xfrm>
            <a:off x="1054100" y="38608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Auth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2672C2-1EFB-F293-A7EA-1372E45472FF}"/>
              </a:ext>
            </a:extLst>
          </p:cNvPr>
          <p:cNvSpPr txBox="1"/>
          <p:nvPr/>
        </p:nvSpPr>
        <p:spPr>
          <a:xfrm>
            <a:off x="1079500" y="43688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JWT token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SQLite users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bcrypt password hashing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36B2ADE-1298-5DE5-4F16-158BF1AB26C3}"/>
              </a:ext>
            </a:extLst>
          </p:cNvPr>
          <p:cNvSpPr/>
          <p:nvPr/>
        </p:nvSpPr>
        <p:spPr>
          <a:xfrm>
            <a:off x="4572000" y="3683000"/>
            <a:ext cx="3048000" cy="1905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F8D805-20EC-7541-D468-3D55651D0AE9}"/>
              </a:ext>
            </a:extLst>
          </p:cNvPr>
          <p:cNvSpPr/>
          <p:nvPr/>
        </p:nvSpPr>
        <p:spPr>
          <a:xfrm>
            <a:off x="4572000" y="3683000"/>
            <a:ext cx="63500" cy="19050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6F5892-CCC0-C853-2E43-AD1492CE83AA}"/>
              </a:ext>
            </a:extLst>
          </p:cNvPr>
          <p:cNvSpPr txBox="1"/>
          <p:nvPr/>
        </p:nvSpPr>
        <p:spPr>
          <a:xfrm>
            <a:off x="4800600" y="38608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Analyzer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282D9-E01F-6F29-AEFF-1844E8DC6077}"/>
              </a:ext>
            </a:extLst>
          </p:cNvPr>
          <p:cNvSpPr txBox="1"/>
          <p:nvPr/>
        </p:nvSpPr>
        <p:spPr>
          <a:xfrm>
            <a:off x="4826000" y="43688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Provider/model selection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AI analysis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Terraform/K8s rules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48635E-858F-D9AE-731B-83FB8533B4DF}"/>
              </a:ext>
            </a:extLst>
          </p:cNvPr>
          <p:cNvSpPr/>
          <p:nvPr/>
        </p:nvSpPr>
        <p:spPr>
          <a:xfrm>
            <a:off x="8318500" y="3683000"/>
            <a:ext cx="3048000" cy="1905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C33A11-6FE2-9E9A-36D8-921A0C782A6E}"/>
              </a:ext>
            </a:extLst>
          </p:cNvPr>
          <p:cNvSpPr/>
          <p:nvPr/>
        </p:nvSpPr>
        <p:spPr>
          <a:xfrm>
            <a:off x="8318500" y="3683000"/>
            <a:ext cx="63500" cy="19050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756530-08FB-2CA3-A4D3-D04E671A6811}"/>
              </a:ext>
            </a:extLst>
          </p:cNvPr>
          <p:cNvSpPr txBox="1"/>
          <p:nvPr/>
        </p:nvSpPr>
        <p:spPr>
          <a:xfrm>
            <a:off x="8547100" y="3860800"/>
            <a:ext cx="2641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AutoFix Path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51B9FC-6E1F-1EE5-2622-EF6081C80694}"/>
              </a:ext>
            </a:extLst>
          </p:cNvPr>
          <p:cNvSpPr txBox="1"/>
          <p:nvPr/>
        </p:nvSpPr>
        <p:spPr>
          <a:xfrm>
            <a:off x="8572500" y="4368800"/>
            <a:ext cx="2616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ClineAgent wrapper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Unified diff generation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Patch application endpoint</a:t>
            </a:r>
          </a:p>
        </p:txBody>
      </p:sp>
    </p:spTree>
    <p:extLst>
      <p:ext uri="{BB962C8B-B14F-4D97-AF65-F5344CB8AC3E}">
        <p14:creationId xmlns:p14="http://schemas.microsoft.com/office/powerpoint/2010/main" val="236659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35BEA9-E13B-B5DC-2E48-7563361695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061BE-97AA-BAE7-CD6A-F2BE3CEC2D25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E9AEE-FA70-C8F6-5089-F0E86127143F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Modules and Tech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377E9-B0A0-7392-7373-4608AA19D715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Major building blocks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9050A-80C6-AC0D-4DA3-D434D8265351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F6A3F9-9BFE-633D-72E9-67ED3FEBC53D}"/>
              </a:ext>
            </a:extLst>
          </p:cNvPr>
          <p:cNvSpPr/>
          <p:nvPr/>
        </p:nvSpPr>
        <p:spPr>
          <a:xfrm>
            <a:off x="7366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54CBF2-3AD6-60F8-75FE-F580EDD963C1}"/>
              </a:ext>
            </a:extLst>
          </p:cNvPr>
          <p:cNvSpPr/>
          <p:nvPr/>
        </p:nvSpPr>
        <p:spPr>
          <a:xfrm>
            <a:off x="736600" y="1460500"/>
            <a:ext cx="63500" cy="40640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69376-3A5B-1709-C9B9-EF99C97BDF17}"/>
              </a:ext>
            </a:extLst>
          </p:cNvPr>
          <p:cNvSpPr txBox="1"/>
          <p:nvPr/>
        </p:nvSpPr>
        <p:spPr>
          <a:xfrm>
            <a:off x="9652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A39DE-FC8A-4BE6-EF4C-FEA93FAD415F}"/>
              </a:ext>
            </a:extLst>
          </p:cNvPr>
          <p:cNvSpPr txBox="1"/>
          <p:nvPr/>
        </p:nvSpPr>
        <p:spPr>
          <a:xfrm>
            <a:off x="990600" y="2146300"/>
            <a:ext cx="2870200" cy="120545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React 19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TypeScript + Vite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React Router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Tailwind CSS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Framer Motion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753E84-87EF-9258-4A92-2565FE52B15D}"/>
              </a:ext>
            </a:extLst>
          </p:cNvPr>
          <p:cNvSpPr/>
          <p:nvPr/>
        </p:nvSpPr>
        <p:spPr>
          <a:xfrm>
            <a:off x="44450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8B18B1-B61E-201A-0AE5-F4CB80A827E2}"/>
              </a:ext>
            </a:extLst>
          </p:cNvPr>
          <p:cNvSpPr/>
          <p:nvPr/>
        </p:nvSpPr>
        <p:spPr>
          <a:xfrm>
            <a:off x="4445000" y="1460500"/>
            <a:ext cx="63500" cy="40640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5DACF-9284-FA3F-119E-455E73A082A9}"/>
              </a:ext>
            </a:extLst>
          </p:cNvPr>
          <p:cNvSpPr txBox="1"/>
          <p:nvPr/>
        </p:nvSpPr>
        <p:spPr>
          <a:xfrm>
            <a:off x="46736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6BC865-3F16-7F91-6B8E-56EF4872C0F8}"/>
              </a:ext>
            </a:extLst>
          </p:cNvPr>
          <p:cNvSpPr txBox="1"/>
          <p:nvPr/>
        </p:nvSpPr>
        <p:spPr>
          <a:xfrm>
            <a:off x="4699000" y="2146300"/>
            <a:ext cx="2870200" cy="120545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FastAPI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Pydantic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SQLAlchemy + SQLite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JWT auth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SMTP email summaries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C31DD9-BF60-A00C-66C7-CA785C0F439A}"/>
              </a:ext>
            </a:extLst>
          </p:cNvPr>
          <p:cNvSpPr/>
          <p:nvPr/>
        </p:nvSpPr>
        <p:spPr>
          <a:xfrm>
            <a:off x="81534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212674-B242-DDFC-8325-CE3981E40759}"/>
              </a:ext>
            </a:extLst>
          </p:cNvPr>
          <p:cNvSpPr/>
          <p:nvPr/>
        </p:nvSpPr>
        <p:spPr>
          <a:xfrm>
            <a:off x="8153400" y="1460500"/>
            <a:ext cx="63500" cy="40640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BAB6F-94B7-D186-E943-4DF92002F296}"/>
              </a:ext>
            </a:extLst>
          </p:cNvPr>
          <p:cNvSpPr txBox="1"/>
          <p:nvPr/>
        </p:nvSpPr>
        <p:spPr>
          <a:xfrm>
            <a:off x="83820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AI + Automation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59C61F-DBE2-3DEA-4B8E-47673E46F2BE}"/>
              </a:ext>
            </a:extLst>
          </p:cNvPr>
          <p:cNvSpPr txBox="1"/>
          <p:nvPr/>
        </p:nvSpPr>
        <p:spPr>
          <a:xfrm>
            <a:off x="8407400" y="2146300"/>
            <a:ext cx="2870200" cy="95923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Ollama local models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Gemini cloud model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Oumi RL scoring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Cline AutoFix workflow</a:t>
            </a:r>
          </a:p>
        </p:txBody>
      </p:sp>
    </p:spTree>
    <p:extLst>
      <p:ext uri="{BB962C8B-B14F-4D97-AF65-F5344CB8AC3E}">
        <p14:creationId xmlns:p14="http://schemas.microsoft.com/office/powerpoint/2010/main" val="1654271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6B0B4C-82E2-D9E4-063D-64FC3D5784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6D48-3AA5-6C7C-232E-64BEAC6BCED0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78B17-81D8-CC32-2E07-AB3C0B7F3ED7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Key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0DF84-53F7-F6E6-F93E-890735025784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User-facing capabilities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07BE5-BC3F-DB46-A264-769D852BEF32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005B64-D097-B0C7-9BEE-8BD4CFB112B4}"/>
              </a:ext>
            </a:extLst>
          </p:cNvPr>
          <p:cNvSpPr/>
          <p:nvPr/>
        </p:nvSpPr>
        <p:spPr>
          <a:xfrm>
            <a:off x="889000" y="1397000"/>
            <a:ext cx="4953000" cy="4191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666DB-6149-E4A2-4A2C-A7063716770A}"/>
              </a:ext>
            </a:extLst>
          </p:cNvPr>
          <p:cNvSpPr txBox="1"/>
          <p:nvPr/>
        </p:nvSpPr>
        <p:spPr>
          <a:xfrm>
            <a:off x="1270000" y="1841500"/>
            <a:ext cx="4191000" cy="237500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Authenticated dashboard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Terraform and Kubernetes file support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Local and cloud AI selection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Drift score and issue cards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Timeline prediction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Optional result email delivery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590594-0FF4-8B8B-C628-F5C3733CA9AA}"/>
              </a:ext>
            </a:extLst>
          </p:cNvPr>
          <p:cNvSpPr/>
          <p:nvPr/>
        </p:nvSpPr>
        <p:spPr>
          <a:xfrm>
            <a:off x="6921500" y="1498600"/>
            <a:ext cx="3937000" cy="914400"/>
          </a:xfrm>
          <a:prstGeom prst="round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FB9F2-98E7-2C48-6CA0-FB95F586063F}"/>
              </a:ext>
            </a:extLst>
          </p:cNvPr>
          <p:cNvSpPr txBox="1"/>
          <p:nvPr/>
        </p:nvSpPr>
        <p:spPr>
          <a:xfrm>
            <a:off x="7366000" y="1778000"/>
            <a:ext cx="3048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4B0B43-170B-95AB-C1CA-9706C943408A}"/>
              </a:ext>
            </a:extLst>
          </p:cNvPr>
          <p:cNvSpPr/>
          <p:nvPr/>
        </p:nvSpPr>
        <p:spPr>
          <a:xfrm>
            <a:off x="6921500" y="2794000"/>
            <a:ext cx="3937000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2CE25-D620-3FD1-40CC-E0E5A1A68F0A}"/>
              </a:ext>
            </a:extLst>
          </p:cNvPr>
          <p:cNvSpPr txBox="1"/>
          <p:nvPr/>
        </p:nvSpPr>
        <p:spPr>
          <a:xfrm>
            <a:off x="7302500" y="3175000"/>
            <a:ext cx="3175000" cy="20826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200" b="1">
                <a:solidFill>
                  <a:srgbClr val="F8FAFC"/>
                </a:solidFill>
                <a:latin typeface="Aptos" panose="020B0004020202020204" pitchFamily="34" charset="0"/>
              </a:rPr>
              <a:t>InfraPilot turns infrastructure files into clear risk insight, practical fix suggestions, and reviewable patches.</a:t>
            </a:r>
          </a:p>
        </p:txBody>
      </p:sp>
    </p:spTree>
    <p:extLst>
      <p:ext uri="{BB962C8B-B14F-4D97-AF65-F5344CB8AC3E}">
        <p14:creationId xmlns:p14="http://schemas.microsoft.com/office/powerpoint/2010/main" val="2747191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F764F-E791-95B1-5102-33273ED20A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19D42-707F-20DD-9FAA-D94378DCCDEC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7137E-8614-A7CA-195D-FCA0F458490F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Implementation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DC404-26D3-ACC5-3F91-77728B556A42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How a single analysis request is processed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24B87-C40F-FEB7-B033-CFBDB5B00488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63D8B9-7AFC-0C1A-DA19-60412F9F29A1}"/>
              </a:ext>
            </a:extLst>
          </p:cNvPr>
          <p:cNvSpPr/>
          <p:nvPr/>
        </p:nvSpPr>
        <p:spPr>
          <a:xfrm>
            <a:off x="914400" y="1422400"/>
            <a:ext cx="10414000" cy="4191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090B4-0818-094B-4C52-F6FE717D79D0}"/>
              </a:ext>
            </a:extLst>
          </p:cNvPr>
          <p:cNvSpPr txBox="1"/>
          <p:nvPr/>
        </p:nvSpPr>
        <p:spPr>
          <a:xfrm>
            <a:off x="1333500" y="1778000"/>
            <a:ext cx="9652000" cy="17748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1. User logs in and opens the protected dashboard.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2. User pastes or attaches Terraform/Kubernetes content.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3. Frontend sends content, file type, model, and optional email to POST /analyze.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4. Backend selects Ollama, Gemini, Oumi, or fallback rule engine.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5. Analyzer normalizes issues, adds Oumi scores, and calculates drift score.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6. Frontend displays score, timeline, issues, and provider metadata.</a:t>
            </a:r>
          </a:p>
          <a:p>
            <a:r>
              <a:rPr lang="en-US" sz="1600">
                <a:solidFill>
                  <a:srgbClr val="F8FAFC"/>
                </a:solidFill>
                <a:latin typeface="Aptos" panose="020B0004020202020204" pitchFamily="34" charset="0"/>
              </a:rPr>
              <a:t>7. Optional AutoFix endpoint generates a unified diff patch.</a:t>
            </a:r>
          </a:p>
        </p:txBody>
      </p:sp>
    </p:spTree>
    <p:extLst>
      <p:ext uri="{BB962C8B-B14F-4D97-AF65-F5344CB8AC3E}">
        <p14:creationId xmlns:p14="http://schemas.microsoft.com/office/powerpoint/2010/main" val="126212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6C73D-6B04-ADCE-BF80-8403A316B9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526CC-480C-1CC6-E200-279F1B88D093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E49E6-563E-AE96-ECAE-68E367139566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Testing and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DC164-F16A-F697-CE29-D8CA445E9F5D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How the project was checked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41E59-5E9F-7EDB-8952-9EF8E9915554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406747-27B6-3EEF-3524-C258EF7A0243}"/>
              </a:ext>
            </a:extLst>
          </p:cNvPr>
          <p:cNvSpPr/>
          <p:nvPr/>
        </p:nvSpPr>
        <p:spPr>
          <a:xfrm>
            <a:off x="7366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4BBB82-25BF-91FE-8D7B-45F8A8C1C953}"/>
              </a:ext>
            </a:extLst>
          </p:cNvPr>
          <p:cNvSpPr/>
          <p:nvPr/>
        </p:nvSpPr>
        <p:spPr>
          <a:xfrm>
            <a:off x="736600" y="1460500"/>
            <a:ext cx="63500" cy="40640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42069-067E-F6B6-8F0F-B2F33BF13C5B}"/>
              </a:ext>
            </a:extLst>
          </p:cNvPr>
          <p:cNvSpPr txBox="1"/>
          <p:nvPr/>
        </p:nvSpPr>
        <p:spPr>
          <a:xfrm>
            <a:off x="9652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Backend Checks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41B68-B288-7FC9-8F2D-D72C2C279601}"/>
              </a:ext>
            </a:extLst>
          </p:cNvPr>
          <p:cNvSpPr txBox="1"/>
          <p:nvPr/>
        </p:nvSpPr>
        <p:spPr>
          <a:xfrm>
            <a:off x="990600" y="2146300"/>
            <a:ext cx="2870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FastAPI routes inspected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Auth flow designed around endpoints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Email is non-blocking/background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D10879-A09F-5A50-2CA5-49EC939843FB}"/>
              </a:ext>
            </a:extLst>
          </p:cNvPr>
          <p:cNvSpPr/>
          <p:nvPr/>
        </p:nvSpPr>
        <p:spPr>
          <a:xfrm>
            <a:off x="44450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8FE85-65BC-53E7-8A77-2ABFC5A05D3E}"/>
              </a:ext>
            </a:extLst>
          </p:cNvPr>
          <p:cNvSpPr/>
          <p:nvPr/>
        </p:nvSpPr>
        <p:spPr>
          <a:xfrm>
            <a:off x="4445000" y="1460500"/>
            <a:ext cx="63500" cy="40640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FFF72-B7A8-ADA6-EB8E-EE1BF3A0CBDD}"/>
              </a:ext>
            </a:extLst>
          </p:cNvPr>
          <p:cNvSpPr txBox="1"/>
          <p:nvPr/>
        </p:nvSpPr>
        <p:spPr>
          <a:xfrm>
            <a:off x="46736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Frontend Checks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C0E94-2136-A2BC-47FE-230E13ACFD2E}"/>
              </a:ext>
            </a:extLst>
          </p:cNvPr>
          <p:cNvSpPr txBox="1"/>
          <p:nvPr/>
        </p:nvSpPr>
        <p:spPr>
          <a:xfrm>
            <a:off x="4699000" y="2146300"/>
            <a:ext cx="28702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npm run build passes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Routing and protected pages wired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Responsive homepage and auth pages themed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67F622-FF59-4D3E-9F2D-F562870BB322}"/>
              </a:ext>
            </a:extLst>
          </p:cNvPr>
          <p:cNvSpPr/>
          <p:nvPr/>
        </p:nvSpPr>
        <p:spPr>
          <a:xfrm>
            <a:off x="8153400" y="1460500"/>
            <a:ext cx="3302000" cy="4064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762578-C176-D8EC-0B58-46A22140450F}"/>
              </a:ext>
            </a:extLst>
          </p:cNvPr>
          <p:cNvSpPr/>
          <p:nvPr/>
        </p:nvSpPr>
        <p:spPr>
          <a:xfrm>
            <a:off x="8153400" y="1460500"/>
            <a:ext cx="63500" cy="40640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6EE6B-B75C-2F39-4211-3F5F1DD8D214}"/>
              </a:ext>
            </a:extLst>
          </p:cNvPr>
          <p:cNvSpPr txBox="1"/>
          <p:nvPr/>
        </p:nvSpPr>
        <p:spPr>
          <a:xfrm>
            <a:off x="8382000" y="1638300"/>
            <a:ext cx="28956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F8FAFC"/>
                </a:solidFill>
                <a:latin typeface="Aptos" panose="020B0004020202020204" pitchFamily="34" charset="0"/>
              </a:rPr>
              <a:t>Resilience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6FF22-6D4F-8B4F-16FA-ADF4303A54CA}"/>
              </a:ext>
            </a:extLst>
          </p:cNvPr>
          <p:cNvSpPr txBox="1"/>
          <p:nvPr/>
        </p:nvSpPr>
        <p:spPr>
          <a:xfrm>
            <a:off x="8407400" y="2146300"/>
            <a:ext cx="2870200" cy="7130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Rule-engine fallback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Ollama timeout configuration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A8B3C7"/>
                </a:solidFill>
                <a:latin typeface="Aptos" panose="020B0004020202020204" pitchFamily="34" charset="0"/>
              </a:rPr>
              <a:t>â€¢ Graceful email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280099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774BD9-BF44-FCB8-E8A8-777BB029DA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85B26-FE88-C26D-BA31-6DB5A6350890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05A36-97E7-E49A-DB83-8787AA748432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928C2-FF01-6FC5-D5AC-24B6B7FA9EC2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Possible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9EF1C-7C15-8C8E-EF98-2EBA58BDE925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D846D6-8890-33A5-C0EB-24CBEED7EBEF}"/>
              </a:ext>
            </a:extLst>
          </p:cNvPr>
          <p:cNvSpPr/>
          <p:nvPr/>
        </p:nvSpPr>
        <p:spPr>
          <a:xfrm>
            <a:off x="914400" y="1422400"/>
            <a:ext cx="10414000" cy="4191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61A22-4BE5-DA9A-82D4-DCA4A97D8DD3}"/>
              </a:ext>
            </a:extLst>
          </p:cNvPr>
          <p:cNvSpPr txBox="1"/>
          <p:nvPr/>
        </p:nvSpPr>
        <p:spPr>
          <a:xfrm>
            <a:off x="1333500" y="1841500"/>
            <a:ext cx="9652000" cy="209801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Add persistent analysis history per user.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Support Docker Compose, Helm charts, and CloudFormation.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Integrate CI/CD scanning for pull requests.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Add downloadable PDF summaries.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Improve AutoFix safety with policy checks.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8FAFC"/>
                </a:solidFill>
                <a:latin typeface="Aptos" panose="020B0004020202020204" pitchFamily="34" charset="0"/>
              </a:rPr>
              <a:t>â€¢ Add role-based access for teams.</a:t>
            </a:r>
          </a:p>
        </p:txBody>
      </p:sp>
    </p:spTree>
    <p:extLst>
      <p:ext uri="{BB962C8B-B14F-4D97-AF65-F5344CB8AC3E}">
        <p14:creationId xmlns:p14="http://schemas.microsoft.com/office/powerpoint/2010/main" val="82206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471B80-A1C3-797E-F2FD-DE29B7EE7C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BC6F75-2CCD-42C3-A7DC-C1B1309E043C}"/>
              </a:ext>
            </a:extLst>
          </p:cNvPr>
          <p:cNvSpPr/>
          <p:nvPr/>
        </p:nvSpPr>
        <p:spPr>
          <a:xfrm>
            <a:off x="533400" y="533400"/>
            <a:ext cx="76200" cy="685800"/>
          </a:xfrm>
          <a:prstGeom prst="rect">
            <a:avLst/>
          </a:prstGeom>
          <a:solidFill>
            <a:srgbClr val="0071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E2027-1D31-81A1-1F0D-EC3F181A6B31}"/>
              </a:ext>
            </a:extLst>
          </p:cNvPr>
          <p:cNvSpPr txBox="1"/>
          <p:nvPr/>
        </p:nvSpPr>
        <p:spPr>
          <a:xfrm>
            <a:off x="787400" y="3810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FAC02-424B-A2F4-44CF-AAD7D8253B9E}"/>
              </a:ext>
            </a:extLst>
          </p:cNvPr>
          <p:cNvSpPr txBox="1"/>
          <p:nvPr/>
        </p:nvSpPr>
        <p:spPr>
          <a:xfrm>
            <a:off x="812800" y="863600"/>
            <a:ext cx="876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A8B3C7"/>
                </a:solidFill>
                <a:latin typeface="Aptos" panose="020B0004020202020204" pitchFamily="34" charset="0"/>
              </a:rPr>
              <a:t>InfraPilot as an infrastructure reliability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1847E-5B58-0F94-8595-E429F3181E49}"/>
              </a:ext>
            </a:extLst>
          </p:cNvPr>
          <p:cNvSpPr txBox="1"/>
          <p:nvPr/>
        </p:nvSpPr>
        <p:spPr>
          <a:xfrm>
            <a:off x="10858500" y="64135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sz="1000">
                <a:solidFill>
                  <a:srgbClr val="A8B3C7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F395B7-54E8-3F00-D0CE-7BC00C0D9E2A}"/>
              </a:ext>
            </a:extLst>
          </p:cNvPr>
          <p:cNvSpPr/>
          <p:nvPr/>
        </p:nvSpPr>
        <p:spPr>
          <a:xfrm>
            <a:off x="1016000" y="1524000"/>
            <a:ext cx="10160000" cy="2921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EFB5F-8F18-7AE5-2A24-1A29A3E9038E}"/>
              </a:ext>
            </a:extLst>
          </p:cNvPr>
          <p:cNvSpPr txBox="1"/>
          <p:nvPr/>
        </p:nvSpPr>
        <p:spPr>
          <a:xfrm>
            <a:off x="1460500" y="1905000"/>
            <a:ext cx="9271000" cy="22057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000">
                <a:solidFill>
                  <a:srgbClr val="F8FAFC"/>
                </a:solidFill>
                <a:latin typeface="Aptos" panose="020B0004020202020204" pitchFamily="34" charset="0"/>
              </a:rPr>
              <a:t>InfraPilot helps developers and platform engineers detect infrastructure risk earlier.</a:t>
            </a:r>
          </a:p>
          <a:p>
            <a:endParaRPr lang="en-US" sz="2000">
              <a:solidFill>
                <a:srgbClr val="F8FAFC"/>
              </a:solidFill>
              <a:latin typeface="Aptos" panose="020B0004020202020204" pitchFamily="34" charset="0"/>
            </a:endParaRPr>
          </a:p>
          <a:p>
            <a:r>
              <a:rPr lang="en-US" sz="2000">
                <a:solidFill>
                  <a:srgbClr val="F8FAFC"/>
                </a:solidFill>
                <a:latin typeface="Aptos" panose="020B0004020202020204" pitchFamily="34" charset="0"/>
              </a:rPr>
              <a:t>It combines AI analysis, rule fallback, Oumi scoring, authentication, optional email delivery, and AutoFix workflows.</a:t>
            </a:r>
          </a:p>
          <a:p>
            <a:endParaRPr lang="en-US" sz="2000">
              <a:solidFill>
                <a:srgbClr val="F8FAFC"/>
              </a:solidFill>
              <a:latin typeface="Aptos" panose="020B0004020202020204" pitchFamily="34" charset="0"/>
            </a:endParaRPr>
          </a:p>
          <a:p>
            <a:r>
              <a:rPr lang="en-US" sz="2000">
                <a:solidFill>
                  <a:srgbClr val="F8FAFC"/>
                </a:solidFill>
                <a:latin typeface="Aptos" panose="020B0004020202020204" pitchFamily="34" charset="0"/>
              </a:rPr>
              <a:t>The result is a practical tool for improving cloud reliability and reducing manual review effort.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094B60-956E-525B-2BAA-890329607F03}"/>
              </a:ext>
            </a:extLst>
          </p:cNvPr>
          <p:cNvSpPr txBox="1"/>
          <p:nvPr/>
        </p:nvSpPr>
        <p:spPr>
          <a:xfrm>
            <a:off x="4127500" y="5143500"/>
            <a:ext cx="3937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3600" b="1">
                <a:solidFill>
                  <a:srgbClr val="34D399"/>
                </a:solidFill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612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Custom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khan afridi</dc:creator>
  <cp:lastModifiedBy>adnan khan afridi</cp:lastModifiedBy>
  <cp:revision>1</cp:revision>
  <dcterms:created xsi:type="dcterms:W3CDTF">2026-04-27T19:49:39Z</dcterms:created>
  <dcterms:modified xsi:type="dcterms:W3CDTF">2026-04-27T19:49:39Z</dcterms:modified>
</cp:coreProperties>
</file>